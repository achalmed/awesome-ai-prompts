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e0ea9e546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e0ea9e546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e4b4e0f2b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e4b4e0f2b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e4b4e0f2b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e4b4e0f2b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e4b4e0f2b9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e4b4e0f2b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e4b4e0f2b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e4b4e0f2b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e4b4e0f2b9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e4b4e0f2b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b1bfb3c185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b1bfb3c185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b1bfb3c185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b1bfb3c18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8eb469e19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8eb469e19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b1c71900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b1c71900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b1c719009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b1c719009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Prompts ChatGPT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p:cNvPicPr preferRelativeResize="0"/>
          <p:nvPr/>
        </p:nvPicPr>
        <p:blipFill>
          <a:blip r:embed="rId3">
            <a:alphaModFix/>
          </a:blip>
          <a:stretch>
            <a:fillRect/>
          </a:stretch>
        </p:blipFill>
        <p:spPr>
          <a:xfrm>
            <a:off x="1033400" y="152400"/>
            <a:ext cx="6264243" cy="4838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Explica…</a:t>
            </a:r>
            <a:endParaRPr b="1"/>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0" lvl="0" marL="0" rtl="0" algn="l">
              <a:lnSpc>
                <a:spcPct val="90000"/>
              </a:lnSpc>
              <a:spcBef>
                <a:spcPts val="1000"/>
              </a:spcBef>
              <a:spcAft>
                <a:spcPts val="0"/>
              </a:spcAft>
              <a:buNone/>
            </a:pPr>
            <a:r>
              <a:rPr lang="es" sz="2800">
                <a:solidFill>
                  <a:schemeClr val="dk1"/>
                </a:solidFill>
              </a:rPr>
              <a:t>•Explica qué es [tema] para que lo entienda un [niño de 10 años] que le gusta mucho [afición]</a:t>
            </a:r>
            <a:endParaRPr sz="2800">
              <a:solidFill>
                <a:schemeClr val="dk1"/>
              </a:solidFill>
            </a:endParaRPr>
          </a:p>
          <a:p>
            <a:pPr indent="0" lvl="0" marL="0" rtl="0" algn="l">
              <a:lnSpc>
                <a:spcPct val="90000"/>
              </a:lnSpc>
              <a:spcBef>
                <a:spcPts val="1000"/>
              </a:spcBef>
              <a:spcAft>
                <a:spcPts val="0"/>
              </a:spcAft>
              <a:buClr>
                <a:schemeClr val="dk1"/>
              </a:buClr>
              <a:buSzPct val="39285"/>
              <a:buFont typeface="Arial"/>
              <a:buNone/>
            </a:pPr>
            <a:r>
              <a:t/>
            </a:r>
            <a:endParaRPr sz="2800">
              <a:solidFill>
                <a:schemeClr val="dk1"/>
              </a:solidFill>
            </a:endParaRPr>
          </a:p>
          <a:p>
            <a:pPr indent="0" lvl="0" marL="0" rtl="0" algn="l">
              <a:lnSpc>
                <a:spcPct val="90000"/>
              </a:lnSpc>
              <a:spcBef>
                <a:spcPts val="1000"/>
              </a:spcBef>
              <a:spcAft>
                <a:spcPts val="0"/>
              </a:spcAft>
              <a:buClr>
                <a:schemeClr val="dk1"/>
              </a:buClr>
              <a:buSzPct val="39285"/>
              <a:buFont typeface="Arial"/>
              <a:buNone/>
            </a:pPr>
            <a:r>
              <a:rPr lang="es" sz="2800">
                <a:solidFill>
                  <a:schemeClr val="dk1"/>
                </a:solidFill>
              </a:rPr>
              <a:t>•Cómo explicarías qué es [tema] usando el [fútbol] como ejemplo</a:t>
            </a:r>
            <a:endParaRPr sz="2800">
              <a:solidFill>
                <a:schemeClr val="dk1"/>
              </a:solidFill>
            </a:endParaRPr>
          </a:p>
          <a:p>
            <a:pPr indent="0" lvl="0" marL="0" rtl="0" algn="l">
              <a:lnSpc>
                <a:spcPct val="90000"/>
              </a:lnSpc>
              <a:spcBef>
                <a:spcPts val="1000"/>
              </a:spcBef>
              <a:spcAft>
                <a:spcPts val="0"/>
              </a:spcAft>
              <a:buClr>
                <a:schemeClr val="dk1"/>
              </a:buClr>
              <a:buSzPct val="39285"/>
              <a:buFont typeface="Arial"/>
              <a:buNone/>
            </a:pPr>
            <a:r>
              <a:t/>
            </a:r>
            <a:endParaRPr sz="2800">
              <a:solidFill>
                <a:schemeClr val="dk1"/>
              </a:solidFill>
            </a:endParaRPr>
          </a:p>
          <a:p>
            <a:pPr indent="0" lvl="0" marL="0" rtl="0" algn="l">
              <a:lnSpc>
                <a:spcPct val="90000"/>
              </a:lnSpc>
              <a:spcBef>
                <a:spcPts val="1000"/>
              </a:spcBef>
              <a:spcAft>
                <a:spcPts val="0"/>
              </a:spcAft>
              <a:buNone/>
            </a:pPr>
            <a:r>
              <a:rPr lang="es" sz="2800">
                <a:solidFill>
                  <a:schemeClr val="dk1"/>
                </a:solidFill>
              </a:rPr>
              <a:t>•Eres un experto en [tema]. Quiero dominar [tema específico]. Tienes que compartir el 20% de los conceptos más importantes de este tema que me ayudarán a entender el 80% de los conceptos más importantes del tema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Estructura de un prompt</a:t>
            </a:r>
            <a:endParaRPr b="1"/>
          </a:p>
        </p:txBody>
      </p:sp>
      <p:sp>
        <p:nvSpPr>
          <p:cNvPr id="72" name="Google Shape;72;p16"/>
          <p:cNvSpPr txBox="1"/>
          <p:nvPr>
            <p:ph idx="1" type="body"/>
          </p:nvPr>
        </p:nvSpPr>
        <p:spPr>
          <a:xfrm>
            <a:off x="311700" y="1152475"/>
            <a:ext cx="8520600" cy="3246000"/>
          </a:xfrm>
          <a:prstGeom prst="rect">
            <a:avLst/>
          </a:prstGeom>
        </p:spPr>
        <p:txBody>
          <a:bodyPr anchorCtr="0" anchor="t" bIns="91425" lIns="91425" spcFirstLastPara="1" rIns="91425" wrap="square" tIns="91425">
            <a:normAutofit fontScale="70000" lnSpcReduction="20000"/>
          </a:bodyPr>
          <a:lstStyle/>
          <a:p>
            <a:pPr indent="0" lvl="0" marL="0" rtl="0" algn="l">
              <a:lnSpc>
                <a:spcPct val="90000"/>
              </a:lnSpc>
              <a:spcBef>
                <a:spcPts val="1000"/>
              </a:spcBef>
              <a:spcAft>
                <a:spcPts val="0"/>
              </a:spcAft>
              <a:buClr>
                <a:schemeClr val="dk1"/>
              </a:buClr>
              <a:buSzPct val="39285"/>
              <a:buFont typeface="Arial"/>
              <a:buNone/>
            </a:pPr>
            <a:r>
              <a:rPr lang="es" sz="2800">
                <a:solidFill>
                  <a:schemeClr val="dk1"/>
                </a:solidFill>
              </a:rPr>
              <a:t>•Rol de ChatGPT: Eres… Actúa como…</a:t>
            </a:r>
            <a:endParaRPr sz="2800">
              <a:solidFill>
                <a:schemeClr val="dk1"/>
              </a:solidFill>
            </a:endParaRPr>
          </a:p>
          <a:p>
            <a:pPr indent="0" lvl="0" marL="0" rtl="0" algn="l">
              <a:lnSpc>
                <a:spcPct val="90000"/>
              </a:lnSpc>
              <a:spcBef>
                <a:spcPts val="1000"/>
              </a:spcBef>
              <a:spcAft>
                <a:spcPts val="0"/>
              </a:spcAft>
              <a:buClr>
                <a:schemeClr val="dk1"/>
              </a:buClr>
              <a:buSzPct val="39285"/>
              <a:buFont typeface="Arial"/>
              <a:buNone/>
            </a:pPr>
            <a:r>
              <a:rPr lang="es" sz="2800">
                <a:solidFill>
                  <a:schemeClr val="dk1"/>
                </a:solidFill>
              </a:rPr>
              <a:t>•Rol del usuario: Yo soy…</a:t>
            </a:r>
            <a:endParaRPr sz="2800">
              <a:solidFill>
                <a:schemeClr val="dk1"/>
              </a:solidFill>
            </a:endParaRPr>
          </a:p>
          <a:p>
            <a:pPr indent="0" lvl="0" marL="0" rtl="0" algn="l">
              <a:lnSpc>
                <a:spcPct val="90000"/>
              </a:lnSpc>
              <a:spcBef>
                <a:spcPts val="1000"/>
              </a:spcBef>
              <a:spcAft>
                <a:spcPts val="0"/>
              </a:spcAft>
              <a:buClr>
                <a:schemeClr val="dk1"/>
              </a:buClr>
              <a:buSzPct val="39285"/>
              <a:buFont typeface="Arial"/>
              <a:buNone/>
            </a:pPr>
            <a:r>
              <a:rPr lang="es" sz="2800">
                <a:solidFill>
                  <a:schemeClr val="dk1"/>
                </a:solidFill>
              </a:rPr>
              <a:t>•Contexto</a:t>
            </a:r>
            <a:endParaRPr sz="2800">
              <a:solidFill>
                <a:schemeClr val="dk1"/>
              </a:solidFill>
            </a:endParaRPr>
          </a:p>
          <a:p>
            <a:pPr indent="0" lvl="0" marL="0" rtl="0" algn="l">
              <a:lnSpc>
                <a:spcPct val="90000"/>
              </a:lnSpc>
              <a:spcBef>
                <a:spcPts val="1000"/>
              </a:spcBef>
              <a:spcAft>
                <a:spcPts val="0"/>
              </a:spcAft>
              <a:buClr>
                <a:schemeClr val="dk1"/>
              </a:buClr>
              <a:buSzPct val="39285"/>
              <a:buFont typeface="Arial"/>
              <a:buNone/>
            </a:pPr>
            <a:r>
              <a:rPr lang="es" sz="2800">
                <a:solidFill>
                  <a:schemeClr val="dk1"/>
                </a:solidFill>
              </a:rPr>
              <a:t>•Tarea</a:t>
            </a:r>
            <a:endParaRPr sz="2800">
              <a:solidFill>
                <a:schemeClr val="dk1"/>
              </a:solidFill>
            </a:endParaRPr>
          </a:p>
          <a:p>
            <a:pPr indent="0" lvl="0" marL="0" rtl="0" algn="l">
              <a:lnSpc>
                <a:spcPct val="90000"/>
              </a:lnSpc>
              <a:spcBef>
                <a:spcPts val="1000"/>
              </a:spcBef>
              <a:spcAft>
                <a:spcPts val="0"/>
              </a:spcAft>
              <a:buClr>
                <a:schemeClr val="dk1"/>
              </a:buClr>
              <a:buSzPct val="39285"/>
              <a:buFont typeface="Arial"/>
              <a:buNone/>
            </a:pPr>
            <a:r>
              <a:rPr lang="es" sz="2800">
                <a:solidFill>
                  <a:schemeClr val="dk1"/>
                </a:solidFill>
              </a:rPr>
              <a:t>•Definiciones de conceptos</a:t>
            </a:r>
            <a:endParaRPr sz="2800">
              <a:solidFill>
                <a:schemeClr val="dk1"/>
              </a:solidFill>
            </a:endParaRPr>
          </a:p>
          <a:p>
            <a:pPr indent="0" lvl="0" marL="0" rtl="0" algn="l">
              <a:lnSpc>
                <a:spcPct val="90000"/>
              </a:lnSpc>
              <a:spcBef>
                <a:spcPts val="1000"/>
              </a:spcBef>
              <a:spcAft>
                <a:spcPts val="0"/>
              </a:spcAft>
              <a:buClr>
                <a:schemeClr val="dk1"/>
              </a:buClr>
              <a:buSzPct val="39285"/>
              <a:buFont typeface="Arial"/>
              <a:buNone/>
            </a:pPr>
            <a:r>
              <a:rPr lang="es" sz="2800">
                <a:solidFill>
                  <a:schemeClr val="dk1"/>
                </a:solidFill>
              </a:rPr>
              <a:t>•No incluyas…</a:t>
            </a:r>
            <a:endParaRPr sz="2800">
              <a:solidFill>
                <a:schemeClr val="dk1"/>
              </a:solidFill>
            </a:endParaRPr>
          </a:p>
          <a:p>
            <a:pPr indent="0" lvl="0" marL="0" rtl="0" algn="l">
              <a:lnSpc>
                <a:spcPct val="90000"/>
              </a:lnSpc>
              <a:spcBef>
                <a:spcPts val="1000"/>
              </a:spcBef>
              <a:spcAft>
                <a:spcPts val="0"/>
              </a:spcAft>
              <a:buClr>
                <a:schemeClr val="dk1"/>
              </a:buClr>
              <a:buSzPct val="39285"/>
              <a:buFont typeface="Arial"/>
              <a:buNone/>
            </a:pPr>
            <a:r>
              <a:rPr lang="es" sz="2800">
                <a:solidFill>
                  <a:schemeClr val="dk1"/>
                </a:solidFill>
              </a:rPr>
              <a:t>•Tono</a:t>
            </a:r>
            <a:endParaRPr sz="2800">
              <a:solidFill>
                <a:schemeClr val="dk1"/>
              </a:solidFill>
            </a:endParaRPr>
          </a:p>
          <a:p>
            <a:pPr indent="0" lvl="0" marL="0" rtl="0" algn="l">
              <a:lnSpc>
                <a:spcPct val="90000"/>
              </a:lnSpc>
              <a:spcBef>
                <a:spcPts val="1000"/>
              </a:spcBef>
              <a:spcAft>
                <a:spcPts val="0"/>
              </a:spcAft>
              <a:buClr>
                <a:schemeClr val="dk1"/>
              </a:buClr>
              <a:buSzPct val="39285"/>
              <a:buFont typeface="Arial"/>
              <a:buNone/>
            </a:pPr>
            <a:r>
              <a:rPr lang="es" sz="2800">
                <a:solidFill>
                  <a:schemeClr val="dk1"/>
                </a:solidFill>
              </a:rPr>
              <a:t>•Formato: lista, tabla, bulletpoints, párrafos, longitud de los párrafos</a:t>
            </a:r>
            <a:endParaRPr sz="2800">
              <a:solidFill>
                <a:schemeClr val="dk1"/>
              </a:solidFill>
            </a:endParaRPr>
          </a:p>
          <a:p>
            <a:pPr indent="0" lvl="0" marL="0" rtl="0" algn="l">
              <a:spcBef>
                <a:spcPts val="0"/>
              </a:spcBef>
              <a:spcAft>
                <a:spcPts val="1200"/>
              </a:spcAft>
              <a:buNone/>
            </a:pPr>
            <a:r>
              <a:t/>
            </a:r>
            <a:endParaRPr/>
          </a:p>
        </p:txBody>
      </p:sp>
      <p:sp>
        <p:nvSpPr>
          <p:cNvPr id="73" name="Google Shape;73;p16"/>
          <p:cNvSpPr txBox="1"/>
          <p:nvPr/>
        </p:nvSpPr>
        <p:spPr>
          <a:xfrm>
            <a:off x="459275" y="4490125"/>
            <a:ext cx="871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Recomendable incorporar </a:t>
            </a:r>
            <a:r>
              <a:rPr b="1" lang="es" sz="1800">
                <a:solidFill>
                  <a:schemeClr val="dk1"/>
                </a:solidFill>
              </a:rPr>
              <a:t>ejemplos</a:t>
            </a:r>
            <a:r>
              <a:rPr lang="es" sz="1800">
                <a:solidFill>
                  <a:schemeClr val="dk1"/>
                </a:solidFill>
              </a:rPr>
              <a:t> en el prompts</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Tonos</a:t>
            </a:r>
            <a:endParaRPr b="1"/>
          </a:p>
        </p:txBody>
      </p:sp>
      <p:pic>
        <p:nvPicPr>
          <p:cNvPr id="79" name="Google Shape;79;p17"/>
          <p:cNvPicPr preferRelativeResize="0"/>
          <p:nvPr/>
        </p:nvPicPr>
        <p:blipFill>
          <a:blip r:embed="rId3">
            <a:alphaModFix/>
          </a:blip>
          <a:stretch>
            <a:fillRect/>
          </a:stretch>
        </p:blipFill>
        <p:spPr>
          <a:xfrm>
            <a:off x="63200" y="1017716"/>
            <a:ext cx="8520601" cy="384671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 de “analizador” de texto</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lnSpc>
                <a:spcPct val="90000"/>
              </a:lnSpc>
              <a:spcBef>
                <a:spcPts val="1000"/>
              </a:spcBef>
              <a:spcAft>
                <a:spcPts val="0"/>
              </a:spcAft>
              <a:buNone/>
            </a:pPr>
            <a:r>
              <a:rPr lang="es" sz="2400">
                <a:solidFill>
                  <a:schemeClr val="dk1"/>
                </a:solidFill>
              </a:rPr>
              <a:t>Tu nombre es detective. Comenzarás tus respuestas con "Detective:" para aclarar que está actuando como Detective al escribir las respuestas. Funcionarás como un analizador de texto que utiliza aprendizaje profundo y lenguaje natural para discernir la probabilidad en porcentaje de que partes específicas del texto puedan ser mentiras. Lo harás a partir del contexto de los contenidos analizados, hechos de la realidad aceptada y la psicología como base. Después de lo cual, formarás un consenso general sobre la probabilidad de que el texto mienta en general, en la medida de su capacidad y precisión. No respondas por mi. Solo responde como detective. Hazlo todo en idioma español.</a:t>
            </a:r>
            <a:endParaRPr sz="2400">
              <a:solidFill>
                <a:schemeClr val="dk1"/>
              </a:solidFill>
            </a:endParaRPr>
          </a:p>
          <a:p>
            <a:pPr indent="0" lvl="0" marL="0" rtl="0" algn="l">
              <a:lnSpc>
                <a:spcPct val="90000"/>
              </a:lnSpc>
              <a:spcBef>
                <a:spcPts val="1000"/>
              </a:spcBef>
              <a:spcAft>
                <a:spcPts val="0"/>
              </a:spcAft>
              <a:buNone/>
            </a:pPr>
            <a:r>
              <a:rPr lang="es" sz="2400">
                <a:solidFill>
                  <a:schemeClr val="dk1"/>
                </a:solidFill>
              </a:rPr>
              <a:t>Sigue este formato exacto con cada solicitud, en el orden numerado: 1. Preséntate y pídeme que pegue texto para analizar 2. Inicia una nueva respuesta y realiza tus operaciones como detective. 3. Da un porcentaje de probabilidad de mentira para cada mentira analizada individualmente. 4. Da una probabilidad general de mentira para todo el texto sin explicar la probabilidad general final. Si digo "REINICIAR" en cualquier momento, todo en MAYÚSCULAS, comience de nuevo desde el principio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Traductor</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solidFill>
                  <a:schemeClr val="dk1"/>
                </a:solidFill>
              </a:rPr>
              <a:t>Actúa como mi traductor, editor y proofreader de inglés. Te proporcionaré mi texto en idioma español, y tú deberás reescribr el texto en inglés para que parezca escrito por un [científico] nacido en EEUU, usa un tono académico, formal [y utiliza expresiones elegantes]. Aquí está mi texto: </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Escribe como…</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Actúa como un experto en el análisis de discurso, tono y voz. Mi intención es que puedas crear un descriptor detallado de mi estilo de comunicación escrita. Por favor, analiza la transcripción proporcionada de mi forma de redacción y proporciona una serie de descripciones detalladas que describan con precisión mi vocabulario, estructura de oraciones, tono y cualquier otra característica distintiva presente en el texto. No te enfoques en el tema o contenido real de la transcripción, sino asegúrate de que tus descripciones proporcionen una comprensión específica, clara y completa de mi estilo de comunicación escrita, incluyendo cualquier patrón o tendencia notable. </a:t>
            </a:r>
            <a:endParaRPr/>
          </a:p>
          <a:p>
            <a:pPr indent="0" lvl="0" marL="0" rtl="0" algn="l">
              <a:spcBef>
                <a:spcPts val="1200"/>
              </a:spcBef>
              <a:spcAft>
                <a:spcPts val="0"/>
              </a:spcAft>
              <a:buNone/>
            </a:pPr>
            <a:r>
              <a:rPr lang="es"/>
              <a:t>Luego, proporciona un breve título o nombre que defina con precisión mi estilo.</a:t>
            </a:r>
            <a:endParaRPr/>
          </a:p>
          <a:p>
            <a:pPr indent="0" lvl="0" marL="0" rtl="0" algn="l">
              <a:spcBef>
                <a:spcPts val="1200"/>
              </a:spcBef>
              <a:spcAft>
                <a:spcPts val="1200"/>
              </a:spcAft>
              <a:buNone/>
            </a:pPr>
            <a:r>
              <a:rPr lang="es"/>
              <a:t>Finalmente, crea un resumen completo de mi estilo para que pueda incorporarlo en instrucciones personalizadas dentro de ChatGPT, utilizando Markdown para mejorar la legibilidad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 de redacción</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Clr>
                <a:schemeClr val="dk1"/>
              </a:buClr>
              <a:buSzPct val="66666"/>
              <a:buFont typeface="Arial"/>
              <a:buNone/>
            </a:pPr>
            <a:r>
              <a:rPr lang="es" sz="1650">
                <a:solidFill>
                  <a:srgbClr val="191919"/>
                </a:solidFill>
                <a:highlight>
                  <a:srgbClr val="FFFFFF"/>
                </a:highlight>
                <a:latin typeface="Times New Roman"/>
                <a:ea typeface="Times New Roman"/>
                <a:cs typeface="Times New Roman"/>
                <a:sym typeface="Times New Roman"/>
              </a:rPr>
              <a:t>Pelé explicaba al fútbol brasileño al que dotó de confianza y trascendencia, Cruyff a la deslumbrante escuela holandesa, Maradona al astuto y virtuoso juego de Argentina… Fueron los mejores y, con ellos, viajaba orgullosamente la identidad futbolística de todo un país. Leyendo los distintos homenajes que Franz Beckenbauer provocó tras su muerte, hay una coincidencia sin excepciones: se trata del mejor jugador alemán de la historia. Nada que discutir, porque su sedoso talento atravesó generaciones de grandes campeones sin que ninguno de esos jugadores empañara la condición de súper crack que ostentaba Beckenbauer. Pero resulta curioso que, el mejor alemán, haya sido el menos alemán. El prejuicio nos dice que el alemán es fuerte, responsable, competitivo, previsible, con gran sentido colectivo… Si tuviéramos que hacer un retrato robot, estaría en las antípodas de la aristocrática figura del Kaiser. De alemán tenía, eso sí, su estirpe ganadora.</a:t>
            </a:r>
            <a:endParaRPr sz="1650">
              <a:solidFill>
                <a:srgbClr val="191919"/>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66666"/>
              <a:buFont typeface="Arial"/>
              <a:buNone/>
            </a:pPr>
            <a:r>
              <a:rPr lang="es" sz="1650">
                <a:solidFill>
                  <a:srgbClr val="191919"/>
                </a:solidFill>
                <a:highlight>
                  <a:srgbClr val="FFFFFF"/>
                </a:highlight>
                <a:latin typeface="Times New Roman"/>
                <a:ea typeface="Times New Roman"/>
                <a:cs typeface="Times New Roman"/>
                <a:sym typeface="Times New Roman"/>
              </a:rPr>
              <a:t>La de Beckenbauer era una superioridad tan elegante y abusiva que no llevaba implícito ningún esfuerzo. Quienes jugaban a su lado y quienes salían a enfrentarlo, parecían seres inferiores que solo tenían derecho a observarlo. En una tertulia de exjugadores que compartí en los años noventa, Iselín Ovejero, defensa argentino del Atlético, contó en una ocasión que él había marcado más de una vez a Johan Cruyff. Le pregunté qué recuerdo tenía de aquellos enfrentamientos y la respuesta fue inolvidable: “Lo bien que olía”. Es lo que estos monstruos dejan al pasar. Seguro que Franz también dejaba un buen aroma en el aire cuando salía desde el fondo de la defensa como patinando sobre hielo y con la cabeza tan levantada, que parecía estar mirando el siguiente partido.</a:t>
            </a:r>
            <a:endParaRPr sz="1650">
              <a:solidFill>
                <a:srgbClr val="191919"/>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66666"/>
              <a:buFont typeface="Arial"/>
              <a:buNone/>
            </a:pPr>
            <a:r>
              <a:rPr lang="es" sz="1650">
                <a:solidFill>
                  <a:srgbClr val="191919"/>
                </a:solidFill>
                <a:highlight>
                  <a:srgbClr val="FFFFFF"/>
                </a:highlight>
                <a:latin typeface="Times New Roman"/>
                <a:ea typeface="Times New Roman"/>
                <a:cs typeface="Times New Roman"/>
                <a:sym typeface="Times New Roman"/>
              </a:rPr>
              <a:t>Todo el mundo pretende que uno haga ranking de jugadores para saber quién era el mejor en lo que sea. Suelo negarme porque me da miedo cometer una falta de respeto. Solo me gustan las listas que no sirven para nada. A propósito de Beckenbauer voy a decir quiénes fueron, para mí, los jugadores más elegantes de la historia. No atiendan al orden. Primero nombraré al “Beto” Alonso, jugador de River Plate de los años setenta que era Nureyev jugando al fútbol. Muchos jóvenes no sabrán de qué estoy hablando y lo siento por ellos. Luego a Zinedine Zidane, al que bastaba ver controlando un balón para que el fútbol se elevara hasta lo artístico. Y no puede faltar Beckenbauer, representado siempre con un frac impecable, porque su fútbol no manchaba. El pragmatismo nunca entenderá porque estos tipos resultan inolvidables cuando la elegancia no es un valor cuantificable. Se lo voy a contar: porque para muchos de quienes amamos este juego, muchas veces la belleza es más duradera que el resultado.</a:t>
            </a:r>
            <a:endParaRPr sz="1650">
              <a:solidFill>
                <a:srgbClr val="191919"/>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66666"/>
              <a:buFont typeface="Arial"/>
              <a:buNone/>
            </a:pPr>
            <a:r>
              <a:rPr lang="es" sz="1650">
                <a:solidFill>
                  <a:srgbClr val="191919"/>
                </a:solidFill>
                <a:highlight>
                  <a:srgbClr val="FFFFFF"/>
                </a:highlight>
                <a:latin typeface="Times New Roman"/>
                <a:ea typeface="Times New Roman"/>
                <a:cs typeface="Times New Roman"/>
                <a:sym typeface="Times New Roman"/>
              </a:rPr>
              <a:t>Cada vez que me crucé con Franz Beckenbauer, se agarraba la cabeza desde su imponente y relajada presencia. Teníamos en común el Mundial de México, donde Alemania logró empatarnos después de un 2 a 0. Con la excitación del 2 a 2 fueron a buscar el tercero y dejaron libre a Maradona, que puso a Burruchaga mano a mano con Schumacher para el 3 a 2. Las manos que se llevaba a la cabeza eran porque entendía que, si se lo hubieran tomado con calma, en la prórroga nos pasaban por arriba. Tampoco hay que exagerar, pero afortunadamente en el fútbol no existe la contraprueba. La anécdota sirve para entender el inacabable apetito de triunfo de Beckenbauer, que en aquellos encuentros ya era Campeón del Mundo como jugador y entrenador y triple Campeón de Europa. Solo queda por decir que se fue un grande, un distinto, un señor. Nos deja el aroma de su inmortalidad.</a:t>
            </a:r>
            <a:endParaRPr sz="1650">
              <a:solidFill>
                <a:srgbClr val="191919"/>
              </a:solidFill>
              <a:highlight>
                <a:srgbClr val="FFFFFF"/>
              </a:highlight>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0" name="Google Shape;110;p22"/>
          <p:cNvPicPr preferRelativeResize="0"/>
          <p:nvPr/>
        </p:nvPicPr>
        <p:blipFill>
          <a:blip r:embed="rId3">
            <a:alphaModFix/>
          </a:blip>
          <a:stretch>
            <a:fillRect/>
          </a:stretch>
        </p:blipFill>
        <p:spPr>
          <a:xfrm>
            <a:off x="0" y="0"/>
            <a:ext cx="3815726" cy="2824625"/>
          </a:xfrm>
          <a:prstGeom prst="rect">
            <a:avLst/>
          </a:prstGeom>
          <a:noFill/>
          <a:ln>
            <a:noFill/>
          </a:ln>
        </p:spPr>
      </p:pic>
      <p:pic>
        <p:nvPicPr>
          <p:cNvPr id="111" name="Google Shape;111;p22"/>
          <p:cNvPicPr preferRelativeResize="0"/>
          <p:nvPr/>
        </p:nvPicPr>
        <p:blipFill>
          <a:blip r:embed="rId4">
            <a:alphaModFix/>
          </a:blip>
          <a:stretch>
            <a:fillRect/>
          </a:stretch>
        </p:blipFill>
        <p:spPr>
          <a:xfrm>
            <a:off x="3923877" y="0"/>
            <a:ext cx="5124825" cy="5143499"/>
          </a:xfrm>
          <a:prstGeom prst="rect">
            <a:avLst/>
          </a:prstGeom>
          <a:noFill/>
          <a:ln>
            <a:noFill/>
          </a:ln>
        </p:spPr>
      </p:pic>
      <p:sp>
        <p:nvSpPr>
          <p:cNvPr id="112" name="Google Shape;112;p22"/>
          <p:cNvSpPr/>
          <p:nvPr/>
        </p:nvSpPr>
        <p:spPr>
          <a:xfrm>
            <a:off x="2535000" y="3253875"/>
            <a:ext cx="1465200" cy="732600"/>
          </a:xfrm>
          <a:prstGeom prst="rightArrow">
            <a:avLst>
              <a:gd fmla="val 50000" name="adj1"/>
              <a:gd fmla="val 50000" name="adj2"/>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Formular preguntas de investigación</a:t>
            </a:r>
            <a:endParaRPr/>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t>Eres un director de tesis de doctorado. Yo estoy trabajando en XXXX. Haz un brainstorming de posibles preguntas de investigación para mi tesis de doctorado. La pregunta de investigación de cumplir con estas características: </a:t>
            </a:r>
            <a:endParaRPr/>
          </a:p>
          <a:p>
            <a:pPr indent="0" lvl="0" marL="0" rtl="0" algn="l">
              <a:spcBef>
                <a:spcPts val="1200"/>
              </a:spcBef>
              <a:spcAft>
                <a:spcPts val="0"/>
              </a:spcAft>
              <a:buNone/>
            </a:pPr>
            <a:r>
              <a:rPr lang="es"/>
              <a:t>- Investigable utilizando fuentes primarias y/o secundarias.</a:t>
            </a:r>
            <a:endParaRPr/>
          </a:p>
          <a:p>
            <a:pPr indent="0" lvl="0" marL="0" rtl="0" algn="l">
              <a:spcBef>
                <a:spcPts val="1200"/>
              </a:spcBef>
              <a:spcAft>
                <a:spcPts val="0"/>
              </a:spcAft>
              <a:buNone/>
            </a:pPr>
            <a:r>
              <a:rPr lang="es"/>
              <a:t>- Factible de responder dentro del plazo y las limitaciones prácticas.</a:t>
            </a:r>
            <a:endParaRPr/>
          </a:p>
          <a:p>
            <a:pPr indent="0" lvl="0" marL="0" rtl="0" algn="l">
              <a:spcBef>
                <a:spcPts val="1200"/>
              </a:spcBef>
              <a:spcAft>
                <a:spcPts val="0"/>
              </a:spcAft>
              <a:buNone/>
            </a:pPr>
            <a:r>
              <a:rPr lang="es"/>
              <a:t>- Específica</a:t>
            </a:r>
            <a:endParaRPr/>
          </a:p>
          <a:p>
            <a:pPr indent="0" lvl="0" marL="0" rtl="0" algn="l">
              <a:spcBef>
                <a:spcPts val="1200"/>
              </a:spcBef>
              <a:spcAft>
                <a:spcPts val="0"/>
              </a:spcAft>
              <a:buNone/>
            </a:pPr>
            <a:r>
              <a:rPr lang="es"/>
              <a:t>- Compleja como para desarrollar la respuesta en el espacio de un artículo o tesis.</a:t>
            </a:r>
            <a:endParaRPr/>
          </a:p>
          <a:p>
            <a:pPr indent="0" lvl="0" marL="0" rtl="0" algn="l">
              <a:spcBef>
                <a:spcPts val="1200"/>
              </a:spcBef>
              <a:spcAft>
                <a:spcPts val="1200"/>
              </a:spcAft>
              <a:buNone/>
            </a:pPr>
            <a:r>
              <a:rPr lang="es"/>
              <a:t>- Relevante para su campo de estudio y/o la sociedad en general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99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Formular preguntas de investigación</a:t>
            </a:r>
            <a:endParaRPr/>
          </a:p>
        </p:txBody>
      </p:sp>
      <p:sp>
        <p:nvSpPr>
          <p:cNvPr id="124" name="Google Shape;124;p24"/>
          <p:cNvSpPr txBox="1"/>
          <p:nvPr>
            <p:ph idx="1" type="body"/>
          </p:nvPr>
        </p:nvSpPr>
        <p:spPr>
          <a:xfrm>
            <a:off x="311700" y="1117100"/>
            <a:ext cx="8520600" cy="1083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I am working on [the use of ChatGPT and peer-review of scientific papers]. Could you help me brainstorm research questions?</a:t>
            </a:r>
            <a:endParaRPr/>
          </a:p>
        </p:txBody>
      </p:sp>
      <p:sp>
        <p:nvSpPr>
          <p:cNvPr id="125" name="Google Shape;125;p24"/>
          <p:cNvSpPr txBox="1"/>
          <p:nvPr/>
        </p:nvSpPr>
        <p:spPr>
          <a:xfrm>
            <a:off x="311700" y="2505975"/>
            <a:ext cx="8622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2800">
                <a:solidFill>
                  <a:schemeClr val="dk1"/>
                </a:solidFill>
              </a:rPr>
              <a:t>Formular preguntas de investigación dirigidas a…</a:t>
            </a:r>
            <a:endParaRPr sz="1800">
              <a:solidFill>
                <a:schemeClr val="dk2"/>
              </a:solidFill>
            </a:endParaRPr>
          </a:p>
        </p:txBody>
      </p:sp>
      <p:sp>
        <p:nvSpPr>
          <p:cNvPr id="126" name="Google Shape;126;p24"/>
          <p:cNvSpPr txBox="1"/>
          <p:nvPr/>
        </p:nvSpPr>
        <p:spPr>
          <a:xfrm>
            <a:off x="461100" y="3314925"/>
            <a:ext cx="86829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sz="1800">
                <a:solidFill>
                  <a:schemeClr val="dk2"/>
                </a:solidFill>
              </a:rPr>
              <a:t>I am working on [the use of ChatGPT and peer-review of scientific papers]. Could you help me brainstorm research questions? My dissertation will be [quantitative and the research question must lead to an explanatory model]</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